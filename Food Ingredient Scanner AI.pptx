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ed Hat Display Bold" charset="1" panose="02010803040201060303"/>
      <p:regular r:id="rId16"/>
    </p:embeddedFont>
    <p:embeddedFont>
      <p:font typeface="Inter" charset="1" panose="020B0502030000000004"/>
      <p:regular r:id="rId17"/>
    </p:embeddedFont>
    <p:embeddedFont>
      <p:font typeface="Inter Medium" charset="1" panose="0200050300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36630" y="6009010"/>
            <a:ext cx="2469284" cy="4409435"/>
          </a:xfrm>
          <a:custGeom>
            <a:avLst/>
            <a:gdLst/>
            <a:ahLst/>
            <a:cxnLst/>
            <a:rect r="r" b="b" t="t" l="l"/>
            <a:pathLst>
              <a:path h="4409435" w="2469284">
                <a:moveTo>
                  <a:pt x="0" y="0"/>
                </a:moveTo>
                <a:lnTo>
                  <a:pt x="2469283" y="0"/>
                </a:lnTo>
                <a:lnTo>
                  <a:pt x="2469283" y="4409435"/>
                </a:lnTo>
                <a:lnTo>
                  <a:pt x="0" y="4409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23136" y="6465422"/>
            <a:ext cx="4325699" cy="3922388"/>
          </a:xfrm>
          <a:custGeom>
            <a:avLst/>
            <a:gdLst/>
            <a:ahLst/>
            <a:cxnLst/>
            <a:rect r="r" b="b" t="t" l="l"/>
            <a:pathLst>
              <a:path h="3922388" w="4325699">
                <a:moveTo>
                  <a:pt x="0" y="0"/>
                </a:moveTo>
                <a:lnTo>
                  <a:pt x="4325699" y="0"/>
                </a:lnTo>
                <a:lnTo>
                  <a:pt x="4325699" y="3922389"/>
                </a:lnTo>
                <a:lnTo>
                  <a:pt x="0" y="3922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3620867" y="3829253"/>
            <a:ext cx="11046265" cy="93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68"/>
              </a:lnSpc>
              <a:spcBef>
                <a:spcPct val="0"/>
              </a:spcBef>
            </a:pPr>
            <a:r>
              <a:rPr lang="en-US" b="true" sz="5477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FOOD INGREDIENT SCANNER AI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58875" y="5588847"/>
            <a:ext cx="8370250" cy="2222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86"/>
              </a:lnSpc>
              <a:spcBef>
                <a:spcPct val="0"/>
              </a:spcBef>
            </a:pPr>
            <a:r>
              <a:rPr lang="en-US" b="true" sz="4276" spc="1282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СКАНИРАЙ. РАЗПОЗНАЙ. ПРОВЕРИ.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26692" y="8322945"/>
            <a:ext cx="8834615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 приложение за разпознаване на вредни съставки в храни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87732" y="981075"/>
            <a:ext cx="3512536" cy="73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FOOD INGREDIENT SCANNER 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531317"/>
            <a:ext cx="7768390" cy="4726983"/>
            <a:chOff x="0" y="0"/>
            <a:chExt cx="937097" cy="570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97" cy="570214"/>
            </a:xfrm>
            <a:custGeom>
              <a:avLst/>
              <a:gdLst/>
              <a:ahLst/>
              <a:cxnLst/>
              <a:rect r="r" b="b" t="t" l="l"/>
              <a:pathLst>
                <a:path h="570214" w="937097">
                  <a:moveTo>
                    <a:pt x="22922" y="0"/>
                  </a:moveTo>
                  <a:lnTo>
                    <a:pt x="914176" y="0"/>
                  </a:lnTo>
                  <a:cubicBezTo>
                    <a:pt x="926835" y="0"/>
                    <a:pt x="937097" y="10262"/>
                    <a:pt x="937097" y="22922"/>
                  </a:cubicBezTo>
                  <a:lnTo>
                    <a:pt x="937097" y="547292"/>
                  </a:lnTo>
                  <a:cubicBezTo>
                    <a:pt x="937097" y="559951"/>
                    <a:pt x="926835" y="570214"/>
                    <a:pt x="914176" y="570214"/>
                  </a:cubicBezTo>
                  <a:lnTo>
                    <a:pt x="22922" y="570214"/>
                  </a:lnTo>
                  <a:cubicBezTo>
                    <a:pt x="10262" y="570214"/>
                    <a:pt x="0" y="559951"/>
                    <a:pt x="0" y="547292"/>
                  </a:cubicBezTo>
                  <a:lnTo>
                    <a:pt x="0" y="22922"/>
                  </a:lnTo>
                  <a:cubicBezTo>
                    <a:pt x="0" y="10262"/>
                    <a:pt x="10262" y="0"/>
                    <a:pt x="22922" y="0"/>
                  </a:cubicBezTo>
                  <a:close/>
                </a:path>
              </a:pathLst>
            </a:custGeom>
            <a:blipFill>
              <a:blip r:embed="rId2"/>
              <a:stretch>
                <a:fillRect l="-3376" t="0" r="-337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31319" y="7745638"/>
            <a:ext cx="1512662" cy="151266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31319" y="5577651"/>
            <a:ext cx="1512662" cy="151266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266254"/>
            <a:ext cx="8115300" cy="165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85"/>
              </a:lnSpc>
              <a:spcBef>
                <a:spcPct val="0"/>
              </a:spcBef>
            </a:pPr>
            <a:r>
              <a:rPr lang="en-US" b="true" sz="4775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ПРОБЛЕМЪТ С ХРАНИТЕ ДНЕС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87650" y="2519929"/>
            <a:ext cx="7271650" cy="79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48"/>
              </a:lnSpc>
              <a:spcBef>
                <a:spcPct val="0"/>
              </a:spcBef>
            </a:pPr>
            <a:r>
              <a:rPr lang="en-US" sz="15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Много потребители не разбират съставките на продуктите, които купуват. Липсата на информация води до нездравословни избори и консумация на вредни добавки.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90600"/>
            <a:ext cx="3512536" cy="30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7"/>
              </a:lnSpc>
              <a:spcBef>
                <a:spcPct val="0"/>
              </a:spcBef>
            </a:pPr>
            <a:r>
              <a:rPr lang="en-US" b="true" sz="179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FOOD INGREDIENT SCANNER 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66051" y="990600"/>
            <a:ext cx="1393249" cy="30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07"/>
              </a:lnSpc>
              <a:spcBef>
                <a:spcPct val="0"/>
              </a:spcBef>
            </a:pPr>
            <a:r>
              <a:rPr lang="en-US" b="true" sz="179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178211" y="7745638"/>
            <a:ext cx="6081089" cy="1327226"/>
            <a:chOff x="0" y="0"/>
            <a:chExt cx="8108119" cy="1769634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716717"/>
              <a:ext cx="8108119" cy="1052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48"/>
                </a:lnSpc>
                <a:spcBef>
                  <a:spcPct val="0"/>
                </a:spcBef>
              </a:pPr>
              <a:r>
                <a:rPr lang="en-US" sz="153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Вредни съставки като E621, Аспартам, Палмово масло и Натриев нитрит се срещат навсякъде, но малцина знаят за техните рискове.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5290806" cy="396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07"/>
                </a:lnSpc>
                <a:spcBef>
                  <a:spcPct val="0"/>
                </a:spcBef>
              </a:pPr>
              <a:r>
                <a:rPr lang="en-US" b="true" sz="179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СКРИТИ ОПАСНОСТИ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78211" y="5577651"/>
            <a:ext cx="6081089" cy="1060526"/>
            <a:chOff x="0" y="0"/>
            <a:chExt cx="8108119" cy="141403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716717"/>
              <a:ext cx="8108119" cy="697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48"/>
                </a:lnSpc>
                <a:spcBef>
                  <a:spcPct val="0"/>
                </a:spcBef>
              </a:pPr>
              <a:r>
                <a:rPr lang="en-US" sz="153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Много хора не знаят какво означават E-номерата и нямат време да четат дългите етикети при пазаруване.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38100"/>
              <a:ext cx="5290806" cy="396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07"/>
                </a:lnSpc>
                <a:spcBef>
                  <a:spcPct val="0"/>
                </a:spcBef>
              </a:pPr>
              <a:r>
                <a:rPr lang="en-US" b="true" sz="179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ЛИПСА НА ИНФОРМАЦИЯ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608145" y="6136814"/>
            <a:ext cx="759010" cy="30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07"/>
              </a:lnSpc>
              <a:spcBef>
                <a:spcPct val="0"/>
              </a:spcBef>
            </a:pPr>
            <a:r>
              <a:rPr lang="en-US" b="true" sz="179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08145" y="8304801"/>
            <a:ext cx="759010" cy="30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07"/>
              </a:lnSpc>
              <a:spcBef>
                <a:spcPct val="0"/>
              </a:spcBef>
            </a:pPr>
            <a:r>
              <a:rPr lang="en-US" b="true" sz="179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90910" y="4531317"/>
            <a:ext cx="7768390" cy="4726983"/>
            <a:chOff x="0" y="0"/>
            <a:chExt cx="937097" cy="570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97" cy="570214"/>
            </a:xfrm>
            <a:custGeom>
              <a:avLst/>
              <a:gdLst/>
              <a:ahLst/>
              <a:cxnLst/>
              <a:rect r="r" b="b" t="t" l="l"/>
              <a:pathLst>
                <a:path h="570214" w="937097">
                  <a:moveTo>
                    <a:pt x="22922" y="0"/>
                  </a:moveTo>
                  <a:lnTo>
                    <a:pt x="914176" y="0"/>
                  </a:lnTo>
                  <a:cubicBezTo>
                    <a:pt x="926835" y="0"/>
                    <a:pt x="937097" y="10262"/>
                    <a:pt x="937097" y="22922"/>
                  </a:cubicBezTo>
                  <a:lnTo>
                    <a:pt x="937097" y="547292"/>
                  </a:lnTo>
                  <a:cubicBezTo>
                    <a:pt x="937097" y="559951"/>
                    <a:pt x="926835" y="570214"/>
                    <a:pt x="914176" y="570214"/>
                  </a:cubicBezTo>
                  <a:lnTo>
                    <a:pt x="22922" y="570214"/>
                  </a:lnTo>
                  <a:cubicBezTo>
                    <a:pt x="10262" y="570214"/>
                    <a:pt x="0" y="559951"/>
                    <a:pt x="0" y="547292"/>
                  </a:cubicBezTo>
                  <a:lnTo>
                    <a:pt x="0" y="22922"/>
                  </a:lnTo>
                  <a:cubicBezTo>
                    <a:pt x="0" y="10262"/>
                    <a:pt x="10262" y="0"/>
                    <a:pt x="22922" y="0"/>
                  </a:cubicBezTo>
                  <a:close/>
                </a:path>
              </a:pathLst>
            </a:custGeom>
            <a:blipFill>
              <a:blip r:embed="rId2"/>
              <a:stretch>
                <a:fillRect l="-3376" t="0" r="-337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982526"/>
            <a:ext cx="8734070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РЕШЕНИЕТО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79309" y="2362766"/>
            <a:ext cx="6979991" cy="124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Нашето AI приложение използва напреднали технологии за автоматично разпознаване и анализ на съставките в храните, като ви предупреждава за потенциално вредни добавки.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81075"/>
            <a:ext cx="3512536" cy="73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FOOD INGREDIENT SCANNER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66051" y="981075"/>
            <a:ext cx="1393249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75592" y="8322945"/>
            <a:ext cx="5725297" cy="93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 анализира съдържанието и автоматично открива вредни съставки, като показва ясни предупреждения на потребителя в реално време.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75592" y="7698013"/>
            <a:ext cx="3968105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AI ДЕТЕКЦИЯ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75592" y="6154958"/>
            <a:ext cx="5725297" cy="93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Сканира етикети чрез камерата на телефона и използва AI OCR технология за автоматично разпознаване на текста от изображението.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75592" y="5530026"/>
            <a:ext cx="3968105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СКАНИРАНЕ И OCR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7745638"/>
            <a:ext cx="1512662" cy="151266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577651"/>
            <a:ext cx="1512662" cy="151266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05526" y="6127289"/>
            <a:ext cx="759010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5526" y="8295276"/>
            <a:ext cx="759010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1240" y="4592045"/>
            <a:ext cx="6676660" cy="75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51"/>
              </a:lnSpc>
              <a:spcBef>
                <a:spcPct val="0"/>
              </a:spcBef>
            </a:pPr>
            <a:r>
              <a:rPr lang="en-US" b="true" sz="4394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ОСНОВНИ ФУНКЦИИ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51240" y="5538599"/>
            <a:ext cx="6979991" cy="73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7"/>
              </a:lnSpc>
              <a:spcBef>
                <a:spcPct val="0"/>
              </a:spcBef>
            </a:pPr>
            <a:r>
              <a:rPr lang="en-US" sz="141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Food Ingredient Scanner AI предлага мощен набор от функции за бързо и лесно разпознаване на вредни съставки. С интуитивен интерфейс и AI технология, приложението е достъпно за всеки потребител.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81075"/>
            <a:ext cx="3512536" cy="29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647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FOOD INGREDIENT SCANNER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6051" y="981075"/>
            <a:ext cx="1393249" cy="57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647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СТРАНИЦА 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34003" y="2672644"/>
            <a:ext cx="5725297" cy="487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7"/>
              </a:lnSpc>
              <a:spcBef>
                <a:spcPct val="0"/>
              </a:spcBef>
            </a:pPr>
            <a:r>
              <a:rPr lang="en-US" sz="141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Качете снимка на етикет директно от галерията или направете нова снимка с камерата на устройството.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34003" y="2038186"/>
            <a:ext cx="3968105" cy="29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647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UPLOAD И CAMERA SCAN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87112" y="2085811"/>
            <a:ext cx="1512662" cy="151266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963938" y="2635450"/>
            <a:ext cx="759010" cy="29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64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34003" y="4559253"/>
            <a:ext cx="5725297" cy="487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7"/>
              </a:lnSpc>
              <a:spcBef>
                <a:spcPct val="0"/>
              </a:spcBef>
            </a:pPr>
            <a:r>
              <a:rPr lang="en-US" sz="141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Автоматично извличане на текст от изображения с помощта на EasyOCR технология с висока точност.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34003" y="3924795"/>
            <a:ext cx="3968105" cy="29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647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OCR РАЗПОЗНАВАНЕ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87112" y="3972420"/>
            <a:ext cx="1512662" cy="151266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963938" y="4522059"/>
            <a:ext cx="759010" cy="29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64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34003" y="6445861"/>
            <a:ext cx="5725297" cy="487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7"/>
              </a:lnSpc>
              <a:spcBef>
                <a:spcPct val="0"/>
              </a:spcBef>
            </a:pPr>
            <a:r>
              <a:rPr lang="en-US" sz="141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Интелигентен AI анализ открива вредни съставки и показва предупреждения на български и английски език.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34003" y="5811404"/>
            <a:ext cx="3968105" cy="29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647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AI АНАЛИЗ (BG/EN)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87112" y="5859029"/>
            <a:ext cx="1512662" cy="151266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963938" y="6408668"/>
            <a:ext cx="759010" cy="29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64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34003" y="8332470"/>
            <a:ext cx="5725297" cy="487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7"/>
              </a:lnSpc>
              <a:spcBef>
                <a:spcPct val="0"/>
              </a:spcBef>
            </a:pPr>
            <a:r>
              <a:rPr lang="en-US" sz="141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Минималистичен и интуитивен дизайн осигурява бързи резултати за секунди без сложни настройки.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34003" y="7698013"/>
            <a:ext cx="3968105" cy="29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647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ЛЕСЕН ИНТЕРФЕЙС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587112" y="7745638"/>
            <a:ext cx="1512662" cy="151266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963938" y="8295276"/>
            <a:ext cx="759010" cy="29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64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90600"/>
            <a:ext cx="3512536" cy="30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7"/>
              </a:lnSpc>
              <a:spcBef>
                <a:spcPct val="0"/>
              </a:spcBef>
            </a:pPr>
            <a:r>
              <a:rPr lang="en-US" b="true" sz="179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FOOD INGREDIENT SCANNER AI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66051" y="990600"/>
            <a:ext cx="1393249" cy="30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07"/>
              </a:lnSpc>
              <a:spcBef>
                <a:spcPct val="0"/>
              </a:spcBef>
            </a:pPr>
            <a:r>
              <a:rPr lang="en-US" b="true" sz="179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22518" y="1982301"/>
            <a:ext cx="10442965" cy="95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4"/>
              </a:lnSpc>
              <a:spcBef>
                <a:spcPct val="0"/>
              </a:spcBef>
            </a:pPr>
            <a:r>
              <a:rPr lang="en-US" b="true" sz="5596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ИЗПОЛЗВАНИ ТЕХНОЛОГИИ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486013"/>
            <a:ext cx="3689658" cy="4271267"/>
            <a:chOff x="0" y="0"/>
            <a:chExt cx="4919544" cy="569502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543801" y="0"/>
              <a:ext cx="3831941" cy="383194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498394" y="1436814"/>
              <a:ext cx="1922757" cy="757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63"/>
                </a:lnSpc>
                <a:spcBef>
                  <a:spcPct val="0"/>
                </a:spcBef>
              </a:pPr>
              <a:r>
                <a:rPr lang="en-US" b="true" sz="3402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941209"/>
              <a:ext cx="4919544" cy="753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307"/>
                </a:lnSpc>
                <a:spcBef>
                  <a:spcPct val="0"/>
                </a:spcBef>
              </a:pPr>
              <a:r>
                <a:rPr lang="en-US" sz="164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Основа за бърза разработка и интерактивен уеб интерфейс.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234454"/>
              <a:ext cx="4919544" cy="396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07"/>
                </a:lnSpc>
                <a:spcBef>
                  <a:spcPct val="0"/>
                </a:spcBef>
              </a:pPr>
              <a:r>
                <a:rPr lang="en-US" b="true" sz="179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PYTHON &amp; STREAMLIT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09014" y="3486013"/>
            <a:ext cx="3689658" cy="4271267"/>
            <a:chOff x="0" y="0"/>
            <a:chExt cx="4919544" cy="569502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543801" y="0"/>
              <a:ext cx="3831941" cy="3831941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498394" y="1436814"/>
              <a:ext cx="1922757" cy="757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63"/>
                </a:lnSpc>
                <a:spcBef>
                  <a:spcPct val="0"/>
                </a:spcBef>
              </a:pPr>
              <a:r>
                <a:rPr lang="en-US" b="true" sz="3402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4941209"/>
              <a:ext cx="4919544" cy="753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307"/>
                </a:lnSpc>
                <a:spcBef>
                  <a:spcPct val="0"/>
                </a:spcBef>
              </a:pPr>
              <a:r>
                <a:rPr lang="en-US" sz="164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AI OCR технология за разпознаване на текст от изображения.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4234454"/>
              <a:ext cx="4919544" cy="396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07"/>
                </a:lnSpc>
                <a:spcBef>
                  <a:spcPct val="0"/>
                </a:spcBef>
              </a:pPr>
              <a:r>
                <a:rPr lang="en-US" b="true" sz="179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EASYOCR &amp; TORCH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89328" y="3486013"/>
            <a:ext cx="3689658" cy="4271267"/>
            <a:chOff x="0" y="0"/>
            <a:chExt cx="4919544" cy="5695022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543801" y="0"/>
              <a:ext cx="3831941" cy="3831941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498394" y="1436814"/>
              <a:ext cx="1922757" cy="757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63"/>
                </a:lnSpc>
                <a:spcBef>
                  <a:spcPct val="0"/>
                </a:spcBef>
              </a:pPr>
              <a:r>
                <a:rPr lang="en-US" b="true" sz="3402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03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4941209"/>
              <a:ext cx="4919544" cy="753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307"/>
                </a:lnSpc>
                <a:spcBef>
                  <a:spcPct val="0"/>
                </a:spcBef>
              </a:pPr>
              <a:r>
                <a:rPr lang="en-US" sz="164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Computer Vision обработка и анализ на изображения.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4234454"/>
              <a:ext cx="4919544" cy="396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07"/>
                </a:lnSpc>
                <a:spcBef>
                  <a:spcPct val="0"/>
                </a:spcBef>
              </a:pPr>
              <a:r>
                <a:rPr lang="en-US" b="true" sz="179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OPENCV &amp; NUMPY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569642" y="3486013"/>
            <a:ext cx="3689658" cy="4271267"/>
            <a:chOff x="0" y="0"/>
            <a:chExt cx="4919544" cy="569502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543801" y="0"/>
              <a:ext cx="3831941" cy="3831941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498394" y="1436814"/>
              <a:ext cx="1922757" cy="757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63"/>
                </a:lnSpc>
                <a:spcBef>
                  <a:spcPct val="0"/>
                </a:spcBef>
              </a:pPr>
              <a:r>
                <a:rPr lang="en-US" b="true" sz="3402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04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4941209"/>
              <a:ext cx="4919544" cy="753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307"/>
                </a:lnSpc>
                <a:spcBef>
                  <a:spcPct val="0"/>
                </a:spcBef>
              </a:pPr>
              <a:r>
                <a:rPr lang="en-US" sz="164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Манипулация и оптимизация на изображения.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4234454"/>
              <a:ext cx="4919544" cy="396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07"/>
                </a:lnSpc>
                <a:spcBef>
                  <a:spcPct val="0"/>
                </a:spcBef>
              </a:pPr>
              <a:r>
                <a:rPr lang="en-US" b="true" sz="179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PILLOW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3837211" y="8313420"/>
            <a:ext cx="10613578" cy="57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7"/>
              </a:lnSpc>
              <a:spcBef>
                <a:spcPct val="0"/>
              </a:spcBef>
            </a:pPr>
            <a:r>
              <a:rPr lang="en-US" sz="164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Комбинация от AI и Computer Vision технологии за точно разпознаване на съставки. Модерен технологичен стек, оптимизиран за скорост и прецизност.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1240" y="4567937"/>
            <a:ext cx="6676660" cy="779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8"/>
              </a:lnSpc>
              <a:spcBef>
                <a:spcPct val="0"/>
              </a:spcBef>
            </a:pPr>
            <a:r>
              <a:rPr lang="en-US" b="true" sz="457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КАК РАБОТИ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51240" y="5538599"/>
            <a:ext cx="6979991" cy="76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Food Ingredient Scanner AI използва комбинация от камера, OCR и изкуствен интелект, за да анализира етикетите на храните и да открие потенциално вредни съставки за секунди.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0125"/>
            <a:ext cx="3512536" cy="28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b="true" sz="1713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FOOD INGREDIENT SCANNER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6051" y="1000125"/>
            <a:ext cx="1393249" cy="28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99"/>
              </a:lnSpc>
              <a:spcBef>
                <a:spcPct val="0"/>
              </a:spcBef>
            </a:pPr>
            <a:r>
              <a:rPr lang="en-US" b="true" sz="1713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34003" y="2672644"/>
            <a:ext cx="5725297" cy="505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Насочете камерата на телефона към етикета на продукта и направете снимка за анализ.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34003" y="2057236"/>
            <a:ext cx="3968105" cy="28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b="true" sz="1713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ПОТРЕБИТЕЛЯТ СНИМА ЕТИКЕТ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87112" y="2085811"/>
            <a:ext cx="1512662" cy="151266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963938" y="2654500"/>
            <a:ext cx="759010" cy="28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9"/>
              </a:lnSpc>
              <a:spcBef>
                <a:spcPct val="0"/>
              </a:spcBef>
            </a:pPr>
            <a:r>
              <a:rPr lang="en-US" b="true" sz="1713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34003" y="4559253"/>
            <a:ext cx="5725297" cy="505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EasyOCR технологията автоматично разпознава и извлича текста от снимката на етикета.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34003" y="3943845"/>
            <a:ext cx="3968105" cy="28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b="true" sz="1713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OCR ИЗВЛИЧА ТЕКСТА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87112" y="3972420"/>
            <a:ext cx="1512662" cy="151266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963938" y="4541109"/>
            <a:ext cx="759010" cy="28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9"/>
              </a:lnSpc>
              <a:spcBef>
                <a:spcPct val="0"/>
              </a:spcBef>
            </a:pPr>
            <a:r>
              <a:rPr lang="en-US" b="true" sz="1713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34003" y="6445861"/>
            <a:ext cx="5725297" cy="505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Изкуственият интелект анализира съставките и идентифицира потенциално вредни добавки.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34003" y="5830454"/>
            <a:ext cx="3968105" cy="28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b="true" sz="1713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AI АНАЛИЗИРА СЪДЪРЖАНИЕТО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87112" y="5859029"/>
            <a:ext cx="1512662" cy="151266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963938" y="6427718"/>
            <a:ext cx="759010" cy="28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9"/>
              </a:lnSpc>
              <a:spcBef>
                <a:spcPct val="0"/>
              </a:spcBef>
            </a:pPr>
            <a:r>
              <a:rPr lang="en-US" b="true" sz="1713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34003" y="8332470"/>
            <a:ext cx="5725297" cy="505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Резултатите се показват с ясни предупреждения за всяка открита вредна съставка.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34003" y="7717063"/>
            <a:ext cx="3968105" cy="28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b="true" sz="1713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ПОКАЗВАНЕ НА ПРЕДУПРЕЖДЕНИЯ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587112" y="7745638"/>
            <a:ext cx="1512662" cy="151266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963938" y="8314326"/>
            <a:ext cx="759010" cy="28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9"/>
              </a:lnSpc>
              <a:spcBef>
                <a:spcPct val="0"/>
              </a:spcBef>
            </a:pPr>
            <a:r>
              <a:rPr lang="en-US" b="true" sz="1713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90910" y="4531317"/>
            <a:ext cx="7768390" cy="4726983"/>
            <a:chOff x="0" y="0"/>
            <a:chExt cx="937097" cy="570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97" cy="570214"/>
            </a:xfrm>
            <a:custGeom>
              <a:avLst/>
              <a:gdLst/>
              <a:ahLst/>
              <a:cxnLst/>
              <a:rect r="r" b="b" t="t" l="l"/>
              <a:pathLst>
                <a:path h="570214" w="937097">
                  <a:moveTo>
                    <a:pt x="22922" y="0"/>
                  </a:moveTo>
                  <a:lnTo>
                    <a:pt x="914176" y="0"/>
                  </a:lnTo>
                  <a:cubicBezTo>
                    <a:pt x="926835" y="0"/>
                    <a:pt x="937097" y="10262"/>
                    <a:pt x="937097" y="22922"/>
                  </a:cubicBezTo>
                  <a:lnTo>
                    <a:pt x="937097" y="547292"/>
                  </a:lnTo>
                  <a:cubicBezTo>
                    <a:pt x="937097" y="559951"/>
                    <a:pt x="926835" y="570214"/>
                    <a:pt x="914176" y="570214"/>
                  </a:cubicBezTo>
                  <a:lnTo>
                    <a:pt x="22922" y="570214"/>
                  </a:lnTo>
                  <a:cubicBezTo>
                    <a:pt x="10262" y="570214"/>
                    <a:pt x="0" y="559951"/>
                    <a:pt x="0" y="547292"/>
                  </a:cubicBezTo>
                  <a:lnTo>
                    <a:pt x="0" y="22922"/>
                  </a:lnTo>
                  <a:cubicBezTo>
                    <a:pt x="0" y="10262"/>
                    <a:pt x="10262" y="0"/>
                    <a:pt x="22922" y="0"/>
                  </a:cubicBezTo>
                  <a:close/>
                </a:path>
              </a:pathLst>
            </a:custGeom>
            <a:blipFill>
              <a:blip r:embed="rId2"/>
              <a:stretch>
                <a:fillRect l="-3376" t="0" r="-337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982526"/>
            <a:ext cx="8734070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ПРИМЕРЕН РЕЗУЛТАТ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79309" y="2362766"/>
            <a:ext cx="6979991" cy="93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Разпознат текст: "Contains E621, Palm Oil, Aspartame" - AI системата автоматично анализира съдържанието и маркира потенциално вредни съставки.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81075"/>
            <a:ext cx="3512536" cy="73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FOOD INGREDIENT SCANNER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66051" y="981075"/>
            <a:ext cx="1393249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75592" y="8322945"/>
            <a:ext cx="5725297" cy="93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⚠ Аспартам открит - изкуствен подсладител, свързван с потенциални здравни рискове при прекомерна консумация.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75592" y="7698013"/>
            <a:ext cx="3968105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⚠ ПАЛМОВО МАСЛО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75592" y="6154958"/>
            <a:ext cx="5725297" cy="93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⚠ E621 открит - мононатриев глутамат, може да причини главоболие и алергични реакции при чувствителни хора.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75592" y="5530026"/>
            <a:ext cx="3968105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⚠ E621 (MSG)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7745638"/>
            <a:ext cx="1512662" cy="151266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577651"/>
            <a:ext cx="1512662" cy="151266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05526" y="6127289"/>
            <a:ext cx="759010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5526" y="8295276"/>
            <a:ext cx="759010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9970" y="8314690"/>
            <a:ext cx="6676660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ПРЕДИМСТВА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80677" y="7704455"/>
            <a:ext cx="8767353" cy="153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82"/>
              </a:lnSpc>
              <a:spcBef>
                <a:spcPct val="0"/>
              </a:spcBef>
            </a:pPr>
            <a:r>
              <a:rPr lang="en-US" sz="14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По-здравословен избор на храни</a:t>
            </a:r>
          </a:p>
          <a:p>
            <a:pPr algn="just" marL="0" indent="0" lvl="0">
              <a:lnSpc>
                <a:spcPts val="2082"/>
              </a:lnSpc>
              <a:spcBef>
                <a:spcPct val="0"/>
              </a:spcBef>
            </a:pPr>
            <a:r>
              <a:rPr lang="en-US" sz="14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Спестява време при пазаруване</a:t>
            </a:r>
          </a:p>
          <a:p>
            <a:pPr algn="just" marL="0" indent="0" lvl="0">
              <a:lnSpc>
                <a:spcPts val="2082"/>
              </a:lnSpc>
              <a:spcBef>
                <a:spcPct val="0"/>
              </a:spcBef>
            </a:pPr>
            <a:r>
              <a:rPr lang="en-US" sz="14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Лесно и интуитивно ползване</a:t>
            </a:r>
          </a:p>
          <a:p>
            <a:pPr algn="just" marL="0" indent="0" lvl="0">
              <a:lnSpc>
                <a:spcPts val="2082"/>
              </a:lnSpc>
              <a:spcBef>
                <a:spcPct val="0"/>
              </a:spcBef>
            </a:pPr>
            <a:r>
              <a:rPr lang="en-US" sz="14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Автоматизация с AI за точност</a:t>
            </a:r>
          </a:p>
          <a:p>
            <a:pPr algn="just" marL="0" indent="0" lvl="0">
              <a:lnSpc>
                <a:spcPts val="2082"/>
              </a:lnSpc>
              <a:spcBef>
                <a:spcPct val="0"/>
              </a:spcBef>
            </a:pPr>
            <a:r>
              <a:rPr lang="en-US" sz="14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Подходящо за мобилни устройства</a:t>
            </a:r>
          </a:p>
          <a:p>
            <a:pPr algn="just" marL="0" indent="0" lvl="0">
              <a:lnSpc>
                <a:spcPts val="2082"/>
              </a:lnSpc>
              <a:spcBef>
                <a:spcPct val="0"/>
              </a:spcBef>
            </a:pPr>
            <a:r>
              <a:rPr lang="en-US" sz="14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Идеално за семейства с деца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90600"/>
            <a:ext cx="3512536" cy="30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7"/>
              </a:lnSpc>
              <a:spcBef>
                <a:spcPct val="0"/>
              </a:spcBef>
            </a:pPr>
            <a:r>
              <a:rPr lang="en-US" b="true" sz="179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FOOD INGREDIENT SCANNER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6051" y="990600"/>
            <a:ext cx="1393249" cy="30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07"/>
              </a:lnSpc>
              <a:spcBef>
                <a:spcPct val="0"/>
              </a:spcBef>
            </a:pPr>
            <a:r>
              <a:rPr lang="en-US" b="true" sz="179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08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223729" y="2087176"/>
            <a:ext cx="8035571" cy="4726983"/>
            <a:chOff x="0" y="0"/>
            <a:chExt cx="969327" cy="570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9327" cy="570214"/>
            </a:xfrm>
            <a:custGeom>
              <a:avLst/>
              <a:gdLst/>
              <a:ahLst/>
              <a:cxnLst/>
              <a:rect r="r" b="b" t="t" l="l"/>
              <a:pathLst>
                <a:path h="570214" w="969327">
                  <a:moveTo>
                    <a:pt x="22159" y="0"/>
                  </a:moveTo>
                  <a:lnTo>
                    <a:pt x="947168" y="0"/>
                  </a:lnTo>
                  <a:cubicBezTo>
                    <a:pt x="959406" y="0"/>
                    <a:pt x="969327" y="9921"/>
                    <a:pt x="969327" y="22159"/>
                  </a:cubicBezTo>
                  <a:lnTo>
                    <a:pt x="969327" y="548054"/>
                  </a:lnTo>
                  <a:cubicBezTo>
                    <a:pt x="969327" y="560293"/>
                    <a:pt x="959406" y="570214"/>
                    <a:pt x="947168" y="570214"/>
                  </a:cubicBezTo>
                  <a:lnTo>
                    <a:pt x="22159" y="570214"/>
                  </a:lnTo>
                  <a:cubicBezTo>
                    <a:pt x="9921" y="570214"/>
                    <a:pt x="0" y="560293"/>
                    <a:pt x="0" y="548054"/>
                  </a:cubicBezTo>
                  <a:lnTo>
                    <a:pt x="0" y="22159"/>
                  </a:lnTo>
                  <a:cubicBezTo>
                    <a:pt x="0" y="9921"/>
                    <a:pt x="9921" y="0"/>
                    <a:pt x="22159" y="0"/>
                  </a:cubicBezTo>
                  <a:close/>
                </a:path>
              </a:pathLst>
            </a:custGeom>
            <a:blipFill>
              <a:blip r:embed="rId2"/>
              <a:stretch>
                <a:fillRect l="-1601" t="0" r="-160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087176"/>
            <a:ext cx="8035571" cy="4726983"/>
            <a:chOff x="0" y="0"/>
            <a:chExt cx="969327" cy="5702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9327" cy="570214"/>
            </a:xfrm>
            <a:custGeom>
              <a:avLst/>
              <a:gdLst/>
              <a:ahLst/>
              <a:cxnLst/>
              <a:rect r="r" b="b" t="t" l="l"/>
              <a:pathLst>
                <a:path h="570214" w="969327">
                  <a:moveTo>
                    <a:pt x="22159" y="0"/>
                  </a:moveTo>
                  <a:lnTo>
                    <a:pt x="947168" y="0"/>
                  </a:lnTo>
                  <a:cubicBezTo>
                    <a:pt x="959406" y="0"/>
                    <a:pt x="969327" y="9921"/>
                    <a:pt x="969327" y="22159"/>
                  </a:cubicBezTo>
                  <a:lnTo>
                    <a:pt x="969327" y="548054"/>
                  </a:lnTo>
                  <a:cubicBezTo>
                    <a:pt x="969327" y="560293"/>
                    <a:pt x="959406" y="570214"/>
                    <a:pt x="947168" y="570214"/>
                  </a:cubicBezTo>
                  <a:lnTo>
                    <a:pt x="22159" y="570214"/>
                  </a:lnTo>
                  <a:cubicBezTo>
                    <a:pt x="9921" y="570214"/>
                    <a:pt x="0" y="560293"/>
                    <a:pt x="0" y="548054"/>
                  </a:cubicBezTo>
                  <a:lnTo>
                    <a:pt x="0" y="22159"/>
                  </a:lnTo>
                  <a:cubicBezTo>
                    <a:pt x="0" y="9921"/>
                    <a:pt x="9921" y="0"/>
                    <a:pt x="22159" y="0"/>
                  </a:cubicBezTo>
                  <a:close/>
                </a:path>
              </a:pathLst>
            </a:custGeom>
            <a:blipFill>
              <a:blip r:embed="rId3"/>
              <a:stretch>
                <a:fillRect l="-1601" t="0" r="-1601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1240" y="3403371"/>
            <a:ext cx="6676660" cy="194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34"/>
              </a:lnSpc>
              <a:spcBef>
                <a:spcPct val="0"/>
              </a:spcBef>
            </a:pPr>
            <a:r>
              <a:rPr lang="en-US" b="true" sz="5596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БЪДЕЩИ ПОДОБРЕНИЯ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51240" y="5529074"/>
            <a:ext cx="6979991" cy="124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Food Ingredient Scanner AI продължава да се развива с нови функции. Планираме интеграция на система за оценка на храните, скенер на баркодове и облачна база данни за по-пълна информация.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90600"/>
            <a:ext cx="3512536" cy="63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3"/>
              </a:lnSpc>
              <a:spcBef>
                <a:spcPct val="0"/>
              </a:spcBef>
            </a:pPr>
            <a:r>
              <a:rPr lang="en-US" b="true" sz="1845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FOOD INGREDIENT SCANNER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6051" y="990600"/>
            <a:ext cx="1393249" cy="31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83"/>
              </a:lnSpc>
              <a:spcBef>
                <a:spcPct val="0"/>
              </a:spcBef>
            </a:pPr>
            <a:r>
              <a:rPr lang="en-US" b="true" sz="1845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34003" y="2663119"/>
            <a:ext cx="5725297" cy="93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Интелигентна система за оценяване на храни (Food Score) и скенер на баркодове за бързо разпознаване на продукти.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34003" y="2047711"/>
            <a:ext cx="3968105" cy="31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3"/>
              </a:lnSpc>
              <a:spcBef>
                <a:spcPct val="0"/>
              </a:spcBef>
            </a:pPr>
            <a:r>
              <a:rPr lang="en-US" b="true" sz="1845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FOOD SCORE &amp; БАРКОД СКЕНЕР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87112" y="2085811"/>
            <a:ext cx="1512662" cy="151266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963938" y="2644975"/>
            <a:ext cx="759010" cy="31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3"/>
              </a:lnSpc>
              <a:spcBef>
                <a:spcPct val="0"/>
              </a:spcBef>
            </a:pPr>
            <a:r>
              <a:rPr lang="en-US" b="true" sz="1845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34003" y="4549728"/>
            <a:ext cx="5725297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Облачна база данни с хранителни стойности и AI препоръки за по-здравословен избор на храни.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34003" y="3934320"/>
            <a:ext cx="3968105" cy="31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3"/>
              </a:lnSpc>
              <a:spcBef>
                <a:spcPct val="0"/>
              </a:spcBef>
            </a:pPr>
            <a:r>
              <a:rPr lang="en-US" b="true" sz="1845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ОБЛАЧНА БАЗА &amp; AI ПРЕПОРЪКИ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87112" y="3972420"/>
            <a:ext cx="1512662" cy="151266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963938" y="4531584"/>
            <a:ext cx="759010" cy="31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3"/>
              </a:lnSpc>
              <a:spcBef>
                <a:spcPct val="0"/>
              </a:spcBef>
            </a:pPr>
            <a:r>
              <a:rPr lang="en-US" b="true" sz="1845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34003" y="6436336"/>
            <a:ext cx="5725297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Нативно мобилно приложение за iOS и Android с офлайн функционалност и бърз достъп.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34003" y="5820929"/>
            <a:ext cx="3968105" cy="31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3"/>
              </a:lnSpc>
              <a:spcBef>
                <a:spcPct val="0"/>
              </a:spcBef>
            </a:pPr>
            <a:r>
              <a:rPr lang="en-US" b="true" sz="1845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МОБИЛНО ПРИЛОЖЕНИЕ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87112" y="5859029"/>
            <a:ext cx="1512662" cy="151266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963938" y="6418193"/>
            <a:ext cx="759010" cy="31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3"/>
              </a:lnSpc>
              <a:spcBef>
                <a:spcPct val="0"/>
              </a:spcBef>
            </a:pPr>
            <a:r>
              <a:rPr lang="en-US" b="true" sz="1845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34003" y="8322945"/>
            <a:ext cx="5725297" cy="93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Персонализирани потребителски профили с история на сканирани продукти и индивидуални препоръки.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34003" y="7707538"/>
            <a:ext cx="3968105" cy="31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3"/>
              </a:lnSpc>
              <a:spcBef>
                <a:spcPct val="0"/>
              </a:spcBef>
            </a:pPr>
            <a:r>
              <a:rPr lang="en-US" b="true" sz="1845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ПРОФИЛИ &amp; ИСТОРИЯ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587112" y="7745638"/>
            <a:ext cx="1512662" cy="151266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963938" y="8304801"/>
            <a:ext cx="759010" cy="31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3"/>
              </a:lnSpc>
              <a:spcBef>
                <a:spcPct val="0"/>
              </a:spcBef>
            </a:pPr>
            <a:r>
              <a:rPr lang="en-US" b="true" sz="1845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565019"/>
            <a:ext cx="10417835" cy="3693281"/>
            <a:chOff x="0" y="0"/>
            <a:chExt cx="1256699" cy="445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699" cy="445519"/>
            </a:xfrm>
            <a:custGeom>
              <a:avLst/>
              <a:gdLst/>
              <a:ahLst/>
              <a:cxnLst/>
              <a:rect r="r" b="b" t="t" l="l"/>
              <a:pathLst>
                <a:path h="445519" w="1256699">
                  <a:moveTo>
                    <a:pt x="17092" y="0"/>
                  </a:moveTo>
                  <a:lnTo>
                    <a:pt x="1239606" y="0"/>
                  </a:lnTo>
                  <a:cubicBezTo>
                    <a:pt x="1244139" y="0"/>
                    <a:pt x="1248487" y="1801"/>
                    <a:pt x="1251692" y="5006"/>
                  </a:cubicBezTo>
                  <a:cubicBezTo>
                    <a:pt x="1254898" y="8212"/>
                    <a:pt x="1256699" y="12559"/>
                    <a:pt x="1256699" y="17092"/>
                  </a:cubicBezTo>
                  <a:lnTo>
                    <a:pt x="1256699" y="428427"/>
                  </a:lnTo>
                  <a:cubicBezTo>
                    <a:pt x="1256699" y="432960"/>
                    <a:pt x="1254898" y="437307"/>
                    <a:pt x="1251692" y="440513"/>
                  </a:cubicBezTo>
                  <a:cubicBezTo>
                    <a:pt x="1248487" y="443718"/>
                    <a:pt x="1244139" y="445519"/>
                    <a:pt x="1239606" y="445519"/>
                  </a:cubicBezTo>
                  <a:lnTo>
                    <a:pt x="17092" y="445519"/>
                  </a:lnTo>
                  <a:cubicBezTo>
                    <a:pt x="7652" y="445519"/>
                    <a:pt x="0" y="437866"/>
                    <a:pt x="0" y="428427"/>
                  </a:cubicBezTo>
                  <a:lnTo>
                    <a:pt x="0" y="17092"/>
                  </a:lnTo>
                  <a:cubicBezTo>
                    <a:pt x="0" y="12559"/>
                    <a:pt x="1801" y="8212"/>
                    <a:pt x="5006" y="5006"/>
                  </a:cubicBezTo>
                  <a:cubicBezTo>
                    <a:pt x="8212" y="1801"/>
                    <a:pt x="12559" y="0"/>
                    <a:pt x="1709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391" r="0" b="-3039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39506" y="2087176"/>
            <a:ext cx="5519794" cy="7171124"/>
            <a:chOff x="0" y="0"/>
            <a:chExt cx="1453773" cy="18886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53773" cy="1888691"/>
            </a:xfrm>
            <a:custGeom>
              <a:avLst/>
              <a:gdLst/>
              <a:ahLst/>
              <a:cxnLst/>
              <a:rect r="r" b="b" t="t" l="l"/>
              <a:pathLst>
                <a:path h="1888691" w="1453773">
                  <a:moveTo>
                    <a:pt x="71531" y="0"/>
                  </a:moveTo>
                  <a:lnTo>
                    <a:pt x="1382242" y="0"/>
                  </a:lnTo>
                  <a:cubicBezTo>
                    <a:pt x="1401213" y="0"/>
                    <a:pt x="1419407" y="7536"/>
                    <a:pt x="1432822" y="20951"/>
                  </a:cubicBezTo>
                  <a:cubicBezTo>
                    <a:pt x="1446237" y="34366"/>
                    <a:pt x="1453773" y="52560"/>
                    <a:pt x="1453773" y="71531"/>
                  </a:cubicBezTo>
                  <a:lnTo>
                    <a:pt x="1453773" y="1817160"/>
                  </a:lnTo>
                  <a:cubicBezTo>
                    <a:pt x="1453773" y="1836131"/>
                    <a:pt x="1446237" y="1854325"/>
                    <a:pt x="1432822" y="1867740"/>
                  </a:cubicBezTo>
                  <a:cubicBezTo>
                    <a:pt x="1419407" y="1881155"/>
                    <a:pt x="1401213" y="1888691"/>
                    <a:pt x="1382242" y="1888691"/>
                  </a:cubicBezTo>
                  <a:lnTo>
                    <a:pt x="71531" y="1888691"/>
                  </a:lnTo>
                  <a:cubicBezTo>
                    <a:pt x="52560" y="1888691"/>
                    <a:pt x="34366" y="1881155"/>
                    <a:pt x="20951" y="1867740"/>
                  </a:cubicBezTo>
                  <a:cubicBezTo>
                    <a:pt x="7536" y="1854325"/>
                    <a:pt x="0" y="1836131"/>
                    <a:pt x="0" y="1817160"/>
                  </a:cubicBezTo>
                  <a:lnTo>
                    <a:pt x="0" y="71531"/>
                  </a:lnTo>
                  <a:cubicBezTo>
                    <a:pt x="0" y="52560"/>
                    <a:pt x="7536" y="34366"/>
                    <a:pt x="20951" y="20951"/>
                  </a:cubicBezTo>
                  <a:cubicBezTo>
                    <a:pt x="34366" y="7536"/>
                    <a:pt x="52560" y="0"/>
                    <a:pt x="715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53773" cy="1936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981075"/>
            <a:ext cx="3512536" cy="29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647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FOOD INGREDIENT SCANNER 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66051" y="981075"/>
            <a:ext cx="1393249" cy="57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647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СТРАНИЦА 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177006"/>
            <a:ext cx="6477430" cy="75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51"/>
              </a:lnSpc>
              <a:spcBef>
                <a:spcPct val="0"/>
              </a:spcBef>
            </a:pPr>
            <a:r>
              <a:rPr lang="en-US" b="true" sz="4394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БЛАГОДАРИМ!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217670"/>
            <a:ext cx="7906460" cy="487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7"/>
              </a:lnSpc>
              <a:spcBef>
                <a:spcPct val="0"/>
              </a:spcBef>
            </a:pPr>
            <a:r>
              <a:rPr lang="en-US" sz="141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Food Ingredient Scanner AI - Технология за по-здравословен живот. Благодарим ви, че разгледахте нашето AI решение за разпознаване на вредни съставки в храни.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743135" y="6163530"/>
            <a:ext cx="3512536" cy="551314"/>
            <a:chOff x="0" y="0"/>
            <a:chExt cx="4683381" cy="73508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411445"/>
              <a:ext cx="4683381" cy="32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77"/>
                </a:lnSpc>
                <a:spcBef>
                  <a:spcPct val="0"/>
                </a:spcBef>
              </a:pPr>
              <a:r>
                <a:rPr lang="en-US" b="true" sz="1412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info@foodscannerai.bg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164911" y="-47625"/>
              <a:ext cx="2353560" cy="372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306"/>
                </a:lnSpc>
                <a:spcBef>
                  <a:spcPct val="0"/>
                </a:spcBef>
              </a:pPr>
              <a:r>
                <a:rPr lang="en-US" b="true" sz="1647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ИМЕЙЛ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3135" y="4509085"/>
            <a:ext cx="3512536" cy="551314"/>
            <a:chOff x="0" y="0"/>
            <a:chExt cx="4683381" cy="73508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411445"/>
              <a:ext cx="4683381" cy="32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77"/>
                </a:lnSpc>
                <a:spcBef>
                  <a:spcPct val="0"/>
                </a:spcBef>
              </a:pPr>
              <a:r>
                <a:rPr lang="en-US" b="true" sz="1412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www.foodscannerai.bg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164911" y="-47625"/>
              <a:ext cx="2353560" cy="372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306"/>
                </a:lnSpc>
                <a:spcBef>
                  <a:spcPct val="0"/>
                </a:spcBef>
              </a:pPr>
              <a:r>
                <a:rPr lang="en-US" b="true" sz="1647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УЕБСАЙТ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743135" y="2854640"/>
            <a:ext cx="3512536" cy="551314"/>
            <a:chOff x="0" y="0"/>
            <a:chExt cx="4683381" cy="73508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411445"/>
              <a:ext cx="4683381" cy="32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77"/>
                </a:lnSpc>
                <a:spcBef>
                  <a:spcPct val="0"/>
                </a:spcBef>
              </a:pPr>
              <a:r>
                <a:rPr lang="en-US" b="true" sz="1412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+359-888-123-456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164911" y="-47625"/>
              <a:ext cx="2353560" cy="372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306"/>
                </a:lnSpc>
                <a:spcBef>
                  <a:spcPct val="0"/>
                </a:spcBef>
              </a:pPr>
              <a:r>
                <a:rPr lang="en-US" b="true" sz="1647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ТЕЛЕФОН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743135" y="7817975"/>
            <a:ext cx="3512536" cy="551314"/>
            <a:chOff x="0" y="0"/>
            <a:chExt cx="4683381" cy="735086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411445"/>
              <a:ext cx="4683381" cy="32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77"/>
                </a:lnSpc>
                <a:spcBef>
                  <a:spcPct val="0"/>
                </a:spcBef>
              </a:pPr>
              <a:r>
                <a:rPr lang="en-US" b="true" sz="1412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София, България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164911" y="-47625"/>
              <a:ext cx="2353560" cy="372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306"/>
                </a:lnSpc>
                <a:spcBef>
                  <a:spcPct val="0"/>
                </a:spcBef>
              </a:pPr>
              <a:r>
                <a:rPr lang="en-US" b="true" sz="1647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АДРЕС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538913" y="4018293"/>
            <a:ext cx="392098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2538913" y="5672738"/>
            <a:ext cx="392098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2538913" y="7327183"/>
            <a:ext cx="392098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DAHI-UCjv7s</dc:identifier>
  <dcterms:modified xsi:type="dcterms:W3CDTF">2011-08-01T06:04:30Z</dcterms:modified>
  <cp:revision>1</cp:revision>
  <dc:title>Food Ingredient Scanner AI</dc:title>
</cp:coreProperties>
</file>